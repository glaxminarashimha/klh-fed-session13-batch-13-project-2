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554480"/>
            <a:ext cx="5120640" cy="5120640"/>
          </a:xfrm>
          <a:prstGeom prst="ellipse">
            <a:avLst/>
          </a:prstGeom>
          <a:noFill/>
          <a:ln w="2794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-548640"/>
            <a:ext cx="2926080" cy="2926080"/>
          </a:xfrm>
          <a:prstGeom prst="ellipse">
            <a:avLst/>
          </a:prstGeom>
          <a:noFill/>
          <a:ln w="15240">
            <a:solidFill>
              <a:srgbClr val="4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881360" y="192024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2834640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66928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621792"/>
            <a:ext cx="3017520" cy="4572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73152" b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FINAL PROJECT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417320"/>
            <a:ext cx="10607040" cy="1737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Segoe UI"/>
              </a:rPr>
              <a:t>Gray Code to</a:t>
            </a:r>
          </a:p>
          <a:p>
            <a:pPr algn="l"/>
            <a:r>
              <a:rPr sz="4800" b="1">
                <a:solidFill>
                  <a:srgbClr val="C4B5FD"/>
                </a:solidFill>
                <a:latin typeface="Segoe UI"/>
              </a:rPr>
              <a:t>Binary Converter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3127248"/>
            <a:ext cx="100584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700" b="0">
                <a:solidFill>
                  <a:srgbClr val="C7D2FE"/>
                </a:solidFill>
                <a:latin typeface="Segoe UI"/>
              </a:rPr>
              <a:t>Design  •  Simulation  •  Verification in Logisim Evolution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3886200"/>
            <a:ext cx="36576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Segoe UI"/>
              </a:rPr>
              <a:t>PROJECT TEAM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" y="4343400"/>
            <a:ext cx="5074920" cy="841248"/>
          </a:xfrm>
          <a:prstGeom prst="roundRect">
            <a:avLst>
              <a:gd name="adj" fmla="val 5500"/>
            </a:avLst>
          </a:prstGeom>
          <a:solidFill>
            <a:srgbClr val="2D2A5E"/>
          </a:solidFill>
          <a:ln w="12700">
            <a:solidFill>
              <a:srgbClr val="4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73152" bIns="73152"/>
          <a:lstStyle/>
          <a:p>
            <a:pPr algn="l"/>
            <a:r>
              <a:rPr sz="1300" b="1">
                <a:solidFill>
                  <a:srgbClr val="F59E0B"/>
                </a:solidFill>
                <a:latin typeface="Segoe UI"/>
              </a:rPr>
              <a:t>2620090062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Segoe UI"/>
              </a:rPr>
              <a:t>Sambha Ritika Sripranitha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4343400"/>
            <a:ext cx="5074920" cy="841248"/>
          </a:xfrm>
          <a:prstGeom prst="roundRect">
            <a:avLst>
              <a:gd name="adj" fmla="val 5500"/>
            </a:avLst>
          </a:prstGeom>
          <a:solidFill>
            <a:srgbClr val="2D2A5E"/>
          </a:solidFill>
          <a:ln w="12700">
            <a:solidFill>
              <a:srgbClr val="4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73152" bIns="73152"/>
          <a:lstStyle/>
          <a:p>
            <a:pPr algn="l"/>
            <a:r>
              <a:rPr sz="1300" b="1">
                <a:solidFill>
                  <a:srgbClr val="F59E0B"/>
                </a:solidFill>
                <a:latin typeface="Segoe UI"/>
              </a:rPr>
              <a:t>2620090066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Segoe UI"/>
              </a:rPr>
              <a:t>G Laxmi Narashimha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" y="5349240"/>
            <a:ext cx="5074920" cy="841248"/>
          </a:xfrm>
          <a:prstGeom prst="roundRect">
            <a:avLst>
              <a:gd name="adj" fmla="val 5500"/>
            </a:avLst>
          </a:prstGeom>
          <a:solidFill>
            <a:srgbClr val="2D2A5E"/>
          </a:solidFill>
          <a:ln w="12700">
            <a:solidFill>
              <a:srgbClr val="4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73152" bIns="73152"/>
          <a:lstStyle/>
          <a:p>
            <a:pPr algn="l"/>
            <a:r>
              <a:rPr sz="1300" b="1">
                <a:solidFill>
                  <a:srgbClr val="F59E0B"/>
                </a:solidFill>
                <a:latin typeface="Segoe UI"/>
              </a:rPr>
              <a:t>2620090081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Segoe UI"/>
              </a:rPr>
              <a:t>Palavala Venkata Sudheer Kumar Reddy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5349240"/>
            <a:ext cx="5074920" cy="841248"/>
          </a:xfrm>
          <a:prstGeom prst="roundRect">
            <a:avLst>
              <a:gd name="adj" fmla="val 5500"/>
            </a:avLst>
          </a:prstGeom>
          <a:solidFill>
            <a:srgbClr val="2D2A5E"/>
          </a:solidFill>
          <a:ln w="12700">
            <a:solidFill>
              <a:srgbClr val="4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73152" bIns="73152"/>
          <a:lstStyle/>
          <a:p>
            <a:pPr algn="l"/>
            <a:r>
              <a:rPr sz="1300" b="1">
                <a:solidFill>
                  <a:srgbClr val="F59E0B"/>
                </a:solidFill>
                <a:latin typeface="Segoe UI"/>
              </a:rPr>
              <a:t>2620040047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Segoe UI"/>
              </a:rPr>
              <a:t>Kandoori Shanmuk Hari Guptha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6263640"/>
            <a:ext cx="10058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>
                <a:solidFill>
                  <a:srgbClr val="8E8AC9"/>
                </a:solidFill>
                <a:latin typeface="Segoe UI"/>
              </a:rPr>
              <a:t>Department of ECE  |  Digital Design &amp; Computer Architecture  |  26EC1202E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41248"/>
            <a:ext cx="10972800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000" b="1">
                <a:solidFill>
                  <a:srgbClr val="1E1B4B"/>
                </a:solidFill>
                <a:latin typeface="Segoe UI"/>
              </a:rPr>
              <a:t>Aim, Objectives &amp; Learning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572768"/>
            <a:ext cx="1371600" cy="502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01952" y="1572768"/>
            <a:ext cx="411480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172200"/>
            <a:ext cx="73152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600" b="1">
                <a:solidFill>
                  <a:srgbClr val="DDD6FE"/>
                </a:solidFill>
                <a:latin typeface="Segoe UI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11201400" cy="1143000"/>
          </a:xfrm>
          <a:prstGeom prst="roundRect">
            <a:avLst>
              <a:gd name="adj" fmla="val 5500"/>
            </a:avLst>
          </a:prstGeom>
          <a:solidFill>
            <a:srgbClr val="F5F3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37160" tIns="73152" bIns="73152"/>
          <a:lstStyle/>
          <a:p>
            <a:pPr algn="l"/>
            <a:r>
              <a:rPr sz="1300" b="1">
                <a:solidFill>
                  <a:srgbClr val="7C3AED"/>
                </a:solidFill>
                <a:latin typeface="Segoe UI"/>
              </a:rPr>
              <a:t>AIM</a:t>
            </a:r>
          </a:p>
          <a:p>
            <a:pPr algn="l"/>
            <a:r>
              <a:rPr sz="1400" b="0">
                <a:solidFill>
                  <a:srgbClr val="1E1B4B"/>
                </a:solidFill>
                <a:latin typeface="Segoe UI"/>
              </a:rPr>
              <a:t>To design, simulate and verify a 4-bit Gray Code to Binary Converter using combinational logic (XOR gates) in Logisim Evolution, following the Specification → Design → Simulation → Verification workflow.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291840"/>
            <a:ext cx="5486400" cy="3063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/>
          <a:lstStyle/>
          <a:p>
            <a:pPr algn="ctr">
              <a:spcAft>
                <a:spcPts val="800"/>
              </a:spcAft>
            </a:pPr>
            <a:r>
              <a:rPr sz="1400" b="1">
                <a:solidFill>
                  <a:srgbClr val="7C3AED"/>
                </a:solidFill>
                <a:latin typeface="Segoe UI"/>
              </a:rPr>
              <a:t>▸ </a:t>
            </a:r>
            <a:r>
              <a:rPr sz="1400" b="0">
                <a:solidFill>
                  <a:srgbClr val="1E1B4B"/>
                </a:solidFill>
                <a:latin typeface="Segoe UI"/>
              </a:rPr>
              <a:t>Understand Gray code and its one-bit-change property.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7C3AED"/>
                </a:solidFill>
                <a:latin typeface="Segoe UI"/>
              </a:rPr>
              <a:t>▸ </a:t>
            </a:r>
            <a:r>
              <a:rPr sz="1400" b="0">
                <a:solidFill>
                  <a:srgbClr val="1E1B4B"/>
                </a:solidFill>
                <a:latin typeface="Segoe UI"/>
              </a:rPr>
              <a:t>Derive Boolean equations for Gray → Binary conversion.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7C3AED"/>
                </a:solidFill>
                <a:latin typeface="Segoe UI"/>
              </a:rPr>
              <a:t>▸ </a:t>
            </a:r>
            <a:r>
              <a:rPr sz="1400" b="0">
                <a:solidFill>
                  <a:srgbClr val="1E1B4B"/>
                </a:solidFill>
                <a:latin typeface="Segoe UI"/>
              </a:rPr>
              <a:t>Design the converter using XOR gates.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7C3AED"/>
                </a:solidFill>
                <a:latin typeface="Segoe UI"/>
              </a:rPr>
              <a:t>▸ </a:t>
            </a:r>
            <a:r>
              <a:rPr sz="1400" b="0">
                <a:solidFill>
                  <a:srgbClr val="1E1B4B"/>
                </a:solidFill>
                <a:latin typeface="Segoe UI"/>
              </a:rPr>
              <a:t>Simulate and verify in Logisim Evolution.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291840"/>
            <a:ext cx="5486400" cy="3063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/>
          <a:lstStyle/>
          <a:p>
            <a:pPr algn="ctr">
              <a:spcAft>
                <a:spcPts val="800"/>
              </a:spcAft>
            </a:pPr>
            <a:r>
              <a:rPr sz="1400" b="1">
                <a:solidFill>
                  <a:srgbClr val="0D9488"/>
                </a:solidFill>
                <a:latin typeface="Segoe UI"/>
              </a:rPr>
              <a:t>▸ </a:t>
            </a:r>
            <a:r>
              <a:rPr sz="1400" b="0">
                <a:solidFill>
                  <a:srgbClr val="1E1B4B"/>
                </a:solidFill>
                <a:latin typeface="Segoe UI"/>
              </a:rPr>
              <a:t>Translate a specification into a working circuit.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D9488"/>
                </a:solidFill>
                <a:latin typeface="Segoe UI"/>
              </a:rPr>
              <a:t>▸ </a:t>
            </a:r>
            <a:r>
              <a:rPr sz="1400" b="0">
                <a:solidFill>
                  <a:srgbClr val="1E1B4B"/>
                </a:solidFill>
                <a:latin typeface="Segoe UI"/>
              </a:rPr>
              <a:t>Apply truth-table &amp; Boolean methods to code conversion.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D9488"/>
                </a:solidFill>
                <a:latin typeface="Segoe UI"/>
              </a:rPr>
              <a:t>▸ </a:t>
            </a:r>
            <a:r>
              <a:rPr sz="1400" b="0">
                <a:solidFill>
                  <a:srgbClr val="1E1B4B"/>
                </a:solidFill>
                <a:latin typeface="Segoe UI"/>
              </a:rPr>
              <a:t>Verify circuit behaviour by simulation.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D9488"/>
                </a:solidFill>
                <a:latin typeface="Segoe UI"/>
              </a:rPr>
              <a:t>▸ </a:t>
            </a:r>
            <a:r>
              <a:rPr sz="1400" b="0">
                <a:solidFill>
                  <a:srgbClr val="1E1B4B"/>
                </a:solidFill>
                <a:latin typeface="Segoe UI"/>
              </a:rPr>
              <a:t>Relate code converters to RISC-V datapath blocks.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035808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OBJECTIVES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3035808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LEARNING OUTCOMES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10058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>
                <a:solidFill>
                  <a:srgbClr val="C9C4E8"/>
                </a:solidFill>
                <a:latin typeface="Segoe UI"/>
              </a:rPr>
              <a:t>26EC1202E – Digital Design &amp; Computer Architecture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41248"/>
            <a:ext cx="10972800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000" b="1">
                <a:solidFill>
                  <a:srgbClr val="1E1B4B"/>
                </a:solidFill>
                <a:latin typeface="Segoe UI"/>
              </a:rPr>
              <a:t>Gray Code — and Why Convert It?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572768"/>
            <a:ext cx="1371600" cy="502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01952" y="1572768"/>
            <a:ext cx="411480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172200"/>
            <a:ext cx="73152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600" b="1">
                <a:solidFill>
                  <a:srgbClr val="DDD6FE"/>
                </a:solidFill>
                <a:latin typeface="Segoe UI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5623560" cy="27432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/>
          <a:lstStyle/>
          <a:p>
            <a:pPr algn="ctr">
              <a:spcAft>
                <a:spcPts val="800"/>
              </a:spcAft>
            </a:pPr>
            <a:r>
              <a:rPr sz="1400" b="1">
                <a:solidFill>
                  <a:srgbClr val="7C3AED"/>
                </a:solidFill>
                <a:latin typeface="Segoe UI"/>
              </a:rPr>
              <a:t>▸ </a:t>
            </a:r>
            <a:r>
              <a:rPr sz="1400" b="0">
                <a:solidFill>
                  <a:srgbClr val="1E1B4B"/>
                </a:solidFill>
                <a:latin typeface="Segoe UI"/>
              </a:rPr>
              <a:t>Binary: several bits can change at once (0111 → 1000).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7C3AED"/>
                </a:solidFill>
                <a:latin typeface="Segoe UI"/>
              </a:rPr>
              <a:t>▸ </a:t>
            </a:r>
            <a:r>
              <a:rPr sz="1400" b="1">
                <a:solidFill>
                  <a:srgbClr val="1E1B4B"/>
                </a:solidFill>
                <a:latin typeface="Segoe UI"/>
              </a:rPr>
              <a:t>Gray code: only ONE bit changes between successive values.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7C3AED"/>
                </a:solidFill>
                <a:latin typeface="Segoe UI"/>
              </a:rPr>
              <a:t>▸ </a:t>
            </a:r>
            <a:r>
              <a:rPr sz="1400" b="0">
                <a:solidFill>
                  <a:srgbClr val="1E1B4B"/>
                </a:solidFill>
                <a:latin typeface="Segoe UI"/>
              </a:rPr>
              <a:t>No transient/ambiguous states during transitions.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7C3AED"/>
                </a:solidFill>
                <a:latin typeface="Segoe UI"/>
              </a:rPr>
              <a:t>▸ </a:t>
            </a:r>
            <a:r>
              <a:rPr sz="1400" b="0">
                <a:solidFill>
                  <a:srgbClr val="1E1B4B"/>
                </a:solidFill>
                <a:latin typeface="Segoe UI"/>
              </a:rPr>
              <a:t>Used in encoders, ADCs, K-maps, digital communication.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7C3AED"/>
                </a:solidFill>
                <a:latin typeface="Segoe UI"/>
              </a:rPr>
              <a:t>▸ </a:t>
            </a:r>
            <a:r>
              <a:rPr sz="1400" b="1">
                <a:solidFill>
                  <a:srgbClr val="1E1B4B"/>
                </a:solidFill>
                <a:latin typeface="Segoe UI"/>
              </a:rPr>
              <a:t>Most systems work in pure binary → Gray must be converted.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874519"/>
            <a:ext cx="5212080" cy="3657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12280" y="2148840"/>
          <a:ext cx="448056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3520"/>
                <a:gridCol w="1493520"/>
                <a:gridCol w="1493520"/>
              </a:tblGrid>
              <a:tr h="34544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Decimal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Binary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Gray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</a:tr>
              <a:tr h="34544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B4B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B4B"/>
                          </a:solidFill>
                          <a:latin typeface="Segoe UI"/>
                        </a:rPr>
                        <a:t>0000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B4B"/>
                          </a:solidFill>
                          <a:latin typeface="Segoe UI"/>
                        </a:rPr>
                        <a:t>0000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</a:tr>
              <a:tr h="34544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B4B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B4B"/>
                          </a:solidFill>
                          <a:latin typeface="Segoe UI"/>
                        </a:rPr>
                        <a:t>0001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B4B"/>
                          </a:solidFill>
                          <a:latin typeface="Segoe UI"/>
                        </a:rPr>
                        <a:t>0001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544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B4B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B4B"/>
                          </a:solidFill>
                          <a:latin typeface="Segoe UI"/>
                        </a:rPr>
                        <a:t>0010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B4B"/>
                          </a:solidFill>
                          <a:latin typeface="Segoe UI"/>
                        </a:rPr>
                        <a:t>0011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</a:tr>
              <a:tr h="34544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B4B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B4B"/>
                          </a:solidFill>
                          <a:latin typeface="Segoe UI"/>
                        </a:rPr>
                        <a:t>0011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B4B"/>
                          </a:solidFill>
                          <a:latin typeface="Segoe UI"/>
                        </a:rPr>
                        <a:t>0010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544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B4B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B4B"/>
                          </a:solidFill>
                          <a:latin typeface="Segoe UI"/>
                        </a:rPr>
                        <a:t>0100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B4B"/>
                          </a:solidFill>
                          <a:latin typeface="Segoe UI"/>
                        </a:rPr>
                        <a:t>0110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</a:tr>
              <a:tr h="34544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B4B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B4B"/>
                          </a:solidFill>
                          <a:latin typeface="Segoe UI"/>
                        </a:rPr>
                        <a:t>0101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B4B"/>
                          </a:solidFill>
                          <a:latin typeface="Segoe UI"/>
                        </a:rPr>
                        <a:t>0111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544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B4B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B4B"/>
                          </a:solidFill>
                          <a:latin typeface="Segoe UI"/>
                        </a:rPr>
                        <a:t>0110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B4B"/>
                          </a:solidFill>
                          <a:latin typeface="Segoe UI"/>
                        </a:rPr>
                        <a:t>0101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</a:tr>
              <a:tr h="34544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B4B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B4B"/>
                          </a:solidFill>
                          <a:latin typeface="Segoe UI"/>
                        </a:rPr>
                        <a:t>0111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B4B"/>
                          </a:solidFill>
                          <a:latin typeface="Segoe UI"/>
                        </a:rPr>
                        <a:t>0100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4892040"/>
            <a:ext cx="5623560" cy="1417320"/>
          </a:xfrm>
          <a:prstGeom prst="roundRect">
            <a:avLst>
              <a:gd name="adj" fmla="val 5500"/>
            </a:avLst>
          </a:prstGeom>
          <a:solidFill>
            <a:srgbClr val="FFF7ED"/>
          </a:solidFill>
          <a:ln w="12700">
            <a:solidFill>
              <a:srgbClr val="FDE6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137160" tIns="73152" bIns="73152"/>
          <a:lstStyle/>
          <a:p>
            <a:pPr algn="l"/>
            <a:r>
              <a:rPr sz="1300" b="1">
                <a:solidFill>
                  <a:srgbClr val="F59E0B"/>
                </a:solidFill>
                <a:latin typeface="Segoe UI"/>
              </a:rPr>
              <a:t>Key observation</a:t>
            </a:r>
          </a:p>
          <a:p>
            <a:pPr algn="l"/>
            <a:r>
              <a:rPr sz="1300" b="0">
                <a:solidFill>
                  <a:srgbClr val="1E1B4B"/>
                </a:solidFill>
                <a:latin typeface="Segoe UI"/>
              </a:rPr>
              <a:t>Gray 3 → 4 (0010 → 0110) flips only one bit; binary 3 → 4 (0111 → 1000) flips all four — the source of glitches in position sensing.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41248"/>
            <a:ext cx="10972800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000" b="1">
                <a:solidFill>
                  <a:srgbClr val="1E1B4B"/>
                </a:solidFill>
                <a:latin typeface="Segoe UI"/>
              </a:rPr>
              <a:t>Conversion Logic — Boolean Equations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572768"/>
            <a:ext cx="1371600" cy="502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01952" y="1572768"/>
            <a:ext cx="411480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172200"/>
            <a:ext cx="73152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600" b="1">
                <a:solidFill>
                  <a:srgbClr val="DDD6FE"/>
                </a:solidFill>
                <a:latin typeface="Segoe UI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5577840" cy="2377440"/>
          </a:xfrm>
          <a:prstGeom prst="roundRect">
            <a:avLst>
              <a:gd name="adj" fmla="val 5500"/>
            </a:avLst>
          </a:prstGeom>
          <a:solidFill>
            <a:srgbClr val="F5F3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73152" bIns="73152"/>
          <a:lstStyle/>
          <a:p>
            <a:pPr algn="l"/>
            <a:r>
              <a:rPr sz="1300" b="1">
                <a:solidFill>
                  <a:srgbClr val="7C3AED"/>
                </a:solidFill>
                <a:latin typeface="Segoe UI"/>
              </a:rPr>
              <a:t>MSB passes through unchanged</a:t>
            </a:r>
          </a:p>
          <a:p>
            <a:pPr algn="l"/>
            <a:r>
              <a:rPr sz="2600" b="1">
                <a:solidFill>
                  <a:srgbClr val="1E1B4B"/>
                </a:solidFill>
                <a:latin typeface="Segoe UI"/>
              </a:rPr>
              <a:t>B₃ = G₃</a:t>
            </a:r>
          </a:p>
          <a:p>
            <a:pPr algn="l"/>
            <a:r>
              <a:rPr sz="1300" b="1">
                <a:solidFill>
                  <a:srgbClr val="7C3AED"/>
                </a:solidFill>
                <a:latin typeface="Segoe UI"/>
              </a:rPr>
              <a:t>Each other bit = previous binary bit ⊕ Gray bit</a:t>
            </a:r>
          </a:p>
          <a:p>
            <a:pPr algn="l"/>
            <a:r>
              <a:rPr sz="1700" b="1">
                <a:solidFill>
                  <a:srgbClr val="1E1B4B"/>
                </a:solidFill>
                <a:latin typeface="Segoe UI"/>
              </a:rPr>
              <a:t>B₂ = B₃ ⊕ G₂      B₁ = B₂ ⊕ G₁      B₀ = B₁ ⊕ G₀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526280"/>
            <a:ext cx="5577840" cy="1737360"/>
          </a:xfrm>
          <a:prstGeom prst="roundRect">
            <a:avLst>
              <a:gd name="adj" fmla="val 5500"/>
            </a:avLst>
          </a:prstGeom>
          <a:solidFill>
            <a:srgbClr val="FFF7ED"/>
          </a:solidFill>
          <a:ln w="12700">
            <a:solidFill>
              <a:srgbClr val="FDE6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137160" tIns="73152" bIns="73152"/>
          <a:lstStyle/>
          <a:p>
            <a:pPr algn="l"/>
            <a:r>
              <a:rPr sz="1300" b="1">
                <a:solidFill>
                  <a:srgbClr val="F59E0B"/>
                </a:solidFill>
                <a:latin typeface="Segoe UI"/>
              </a:rPr>
              <a:t>Worked example — G = 1011 (Gray)</a:t>
            </a:r>
          </a:p>
          <a:p>
            <a:pPr algn="l"/>
            <a:r>
              <a:rPr sz="1400" b="0">
                <a:solidFill>
                  <a:srgbClr val="1E1B4B"/>
                </a:solidFill>
                <a:latin typeface="Segoe UI"/>
              </a:rPr>
              <a:t>B₃ = 1     B₂ = 1⊕0 = 1     B₁ = 1⊕1 = 0     B₀ = 0⊕1 = 1</a:t>
            </a:r>
          </a:p>
          <a:p>
            <a:pPr algn="l"/>
            <a:r>
              <a:rPr sz="1800" b="1">
                <a:solidFill>
                  <a:srgbClr val="0D9488"/>
                </a:solidFill>
                <a:latin typeface="Segoe UI"/>
              </a:rPr>
              <a:t>B = 1101  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1874519"/>
            <a:ext cx="5212080" cy="4389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12280" y="2331720"/>
            <a:ext cx="777240" cy="457200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G₃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3200400"/>
            <a:ext cx="777240" cy="457200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G₂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4069080"/>
            <a:ext cx="777240" cy="457200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G₁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4937760"/>
            <a:ext cx="777240" cy="457200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G₀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2944368"/>
            <a:ext cx="1234440" cy="658368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XOR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3813048"/>
            <a:ext cx="1234440" cy="658368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XOR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4681728"/>
            <a:ext cx="1234440" cy="658368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XOR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589520" y="2560320"/>
            <a:ext cx="2468880" cy="0"/>
          </a:xfrm>
          <a:prstGeom prst="line">
            <a:avLst/>
          </a:prstGeom>
          <a:ln w="22225">
            <a:solidFill>
              <a:srgbClr val="9F9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589520" y="3429000"/>
            <a:ext cx="685800" cy="0"/>
          </a:xfrm>
          <a:prstGeom prst="line">
            <a:avLst/>
          </a:prstGeom>
          <a:ln w="22225">
            <a:solidFill>
              <a:srgbClr val="9F9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589520" y="4297680"/>
            <a:ext cx="685800" cy="0"/>
          </a:xfrm>
          <a:prstGeom prst="line">
            <a:avLst/>
          </a:prstGeom>
          <a:ln w="22225">
            <a:solidFill>
              <a:srgbClr val="9F9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589520" y="5166360"/>
            <a:ext cx="685800" cy="0"/>
          </a:xfrm>
          <a:prstGeom prst="line">
            <a:avLst/>
          </a:prstGeom>
          <a:ln w="22225">
            <a:solidFill>
              <a:srgbClr val="9F9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509760" y="3429000"/>
            <a:ext cx="548640" cy="0"/>
          </a:xfrm>
          <a:prstGeom prst="line">
            <a:avLst/>
          </a:prstGeom>
          <a:ln w="22225">
            <a:solidFill>
              <a:srgbClr val="9F9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509760" y="4297680"/>
            <a:ext cx="548640" cy="0"/>
          </a:xfrm>
          <a:prstGeom prst="line">
            <a:avLst/>
          </a:prstGeom>
          <a:ln w="22225">
            <a:solidFill>
              <a:srgbClr val="9F9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509760" y="5166360"/>
            <a:ext cx="548640" cy="0"/>
          </a:xfrm>
          <a:prstGeom prst="line">
            <a:avLst/>
          </a:prstGeom>
          <a:ln w="22225">
            <a:solidFill>
              <a:srgbClr val="9F9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8412480" y="2560320"/>
            <a:ext cx="1645920" cy="594360"/>
          </a:xfrm>
          <a:prstGeom prst="line">
            <a:avLst/>
          </a:prstGeom>
          <a:ln w="22225">
            <a:solidFill>
              <a:srgbClr val="9F9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8412480" y="3429000"/>
            <a:ext cx="1645920" cy="594360"/>
          </a:xfrm>
          <a:prstGeom prst="line">
            <a:avLst/>
          </a:prstGeom>
          <a:ln w="22225">
            <a:solidFill>
              <a:srgbClr val="9F9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8412480" y="4297680"/>
            <a:ext cx="1645920" cy="594360"/>
          </a:xfrm>
          <a:prstGeom prst="line">
            <a:avLst/>
          </a:prstGeom>
          <a:ln w="22225">
            <a:solidFill>
              <a:srgbClr val="9F9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0104120" y="2359152"/>
            <a:ext cx="169164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7C3AED"/>
                </a:solidFill>
                <a:latin typeface="Segoe UI"/>
              </a:rPr>
              <a:t>B₃ = G₃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04120" y="3227832"/>
            <a:ext cx="169164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7C3AED"/>
                </a:solidFill>
                <a:latin typeface="Segoe UI"/>
              </a:rPr>
              <a:t>B₂ = B₃⊕G₂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04120" y="4096512"/>
            <a:ext cx="169164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7C3AED"/>
                </a:solidFill>
                <a:latin typeface="Segoe UI"/>
              </a:rPr>
              <a:t>B₁ = B₂⊕G₁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04120" y="4965192"/>
            <a:ext cx="169164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7C3AED"/>
                </a:solidFill>
                <a:latin typeface="Segoe UI"/>
              </a:rPr>
              <a:t>B₀ = B₁⊕G₀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CIRCUIT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41248"/>
            <a:ext cx="10972800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000" b="1">
                <a:solidFill>
                  <a:srgbClr val="1E1B4B"/>
                </a:solidFill>
                <a:latin typeface="Segoe UI"/>
              </a:rPr>
              <a:t>Implementation in Logisim Evolution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572768"/>
            <a:ext cx="1371600" cy="502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01952" y="1572768"/>
            <a:ext cx="411480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172200"/>
            <a:ext cx="73152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600" b="1">
                <a:solidFill>
                  <a:srgbClr val="DDD6FE"/>
                </a:solidFill>
                <a:latin typeface="Segoe UI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4114800" cy="4434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/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7C3AED"/>
                </a:solidFill>
                <a:latin typeface="Segoe UI"/>
              </a:rPr>
              <a:t>▸ </a:t>
            </a:r>
            <a:r>
              <a:rPr sz="1300" b="0">
                <a:solidFill>
                  <a:srgbClr val="1E1B4B"/>
                </a:solidFill>
                <a:latin typeface="Segoe UI"/>
              </a:rPr>
              <a:t>Inputs: pins G₃, G₂, G₁, G₀ (Gray, MSB → LSB).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7C3AED"/>
                </a:solidFill>
                <a:latin typeface="Segoe UI"/>
              </a:rPr>
              <a:t>▸ </a:t>
            </a:r>
            <a:r>
              <a:rPr sz="1300" b="0">
                <a:solidFill>
                  <a:srgbClr val="1E1B4B"/>
                </a:solidFill>
                <a:latin typeface="Segoe UI"/>
              </a:rPr>
              <a:t>B₃ taken directly from G₃ — MSB needs no gate.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7C3AED"/>
                </a:solidFill>
                <a:latin typeface="Segoe UI"/>
              </a:rPr>
              <a:t>▸ </a:t>
            </a:r>
            <a:r>
              <a:rPr sz="1300" b="1">
                <a:solidFill>
                  <a:srgbClr val="1E1B4B"/>
                </a:solidFill>
                <a:latin typeface="Segoe UI"/>
              </a:rPr>
              <a:t>Three 2-input XOR gates produce B₂, B₁, B₀.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7C3AED"/>
                </a:solidFill>
                <a:latin typeface="Segoe UI"/>
              </a:rPr>
              <a:t>▸ </a:t>
            </a:r>
            <a:r>
              <a:rPr sz="1300" b="0">
                <a:solidFill>
                  <a:srgbClr val="1E1B4B"/>
                </a:solidFill>
                <a:latin typeface="Segoe UI"/>
              </a:rPr>
              <a:t>Each XOR chains a Gray bit with the higher binary bit.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7C3AED"/>
                </a:solidFill>
                <a:latin typeface="Segoe UI"/>
              </a:rPr>
              <a:t>▸ </a:t>
            </a:r>
            <a:r>
              <a:rPr sz="1300" b="1">
                <a:solidFill>
                  <a:srgbClr val="1E1B4B"/>
                </a:solidFill>
                <a:latin typeface="Segoe UI"/>
              </a:rPr>
              <a:t>Purely combinational — no clock or memory.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1783080"/>
            <a:ext cx="6903720" cy="4572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isim_circuit_r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148840"/>
            <a:ext cx="6537960" cy="346279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074920" y="1938528"/>
            <a:ext cx="3291840" cy="36576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73152" b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DDCA project 2.circ — actual schematic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41248"/>
            <a:ext cx="10972800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000" b="1">
                <a:solidFill>
                  <a:srgbClr val="1E1B4B"/>
                </a:solidFill>
                <a:latin typeface="Segoe UI"/>
              </a:rPr>
              <a:t>Truth Table &amp; Simulation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572768"/>
            <a:ext cx="1371600" cy="502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01952" y="1572768"/>
            <a:ext cx="411480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172200"/>
            <a:ext cx="73152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600" b="1">
                <a:solidFill>
                  <a:srgbClr val="DDD6FE"/>
                </a:solidFill>
                <a:latin typeface="Segoe UI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4892040" cy="4572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2103120"/>
          <a:ext cx="44348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8280"/>
                <a:gridCol w="1478280"/>
                <a:gridCol w="1478280"/>
              </a:tblGrid>
              <a:tr h="242047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Segoe UI"/>
                        </a:rPr>
                        <a:t>Dec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Segoe UI"/>
                        </a:rPr>
                        <a:t>Gray G₃G₂G₁G₀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Segoe UI"/>
                        </a:rPr>
                        <a:t>Binary B₃B₂B₁B₀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1B4B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1B4B"/>
                          </a:solidFill>
                          <a:latin typeface="Segoe UI"/>
                        </a:rPr>
                        <a:t>0000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1B4B"/>
                          </a:solidFill>
                          <a:latin typeface="Segoe UI"/>
                        </a:rPr>
                        <a:t>0000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1B4B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1B4B"/>
                          </a:solidFill>
                          <a:latin typeface="Segoe UI"/>
                        </a:rPr>
                        <a:t>0001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1B4B"/>
                          </a:solidFill>
                          <a:latin typeface="Segoe UI"/>
                        </a:rPr>
                        <a:t>0001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1B4B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1B4B"/>
                          </a:solidFill>
                          <a:latin typeface="Segoe UI"/>
                        </a:rPr>
                        <a:t>0011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1B4B"/>
                          </a:solidFill>
                          <a:latin typeface="Segoe UI"/>
                        </a:rPr>
                        <a:t>0010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1B4B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1B4B"/>
                          </a:solidFill>
                          <a:latin typeface="Segoe UI"/>
                        </a:rPr>
                        <a:t>0010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1B4B"/>
                          </a:solidFill>
                          <a:latin typeface="Segoe UI"/>
                        </a:rPr>
                        <a:t>0011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1B4B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1B4B"/>
                          </a:solidFill>
                          <a:latin typeface="Segoe UI"/>
                        </a:rPr>
                        <a:t>0110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1B4B"/>
                          </a:solidFill>
                          <a:latin typeface="Segoe UI"/>
                        </a:rPr>
                        <a:t>0100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1B4B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1B4B"/>
                          </a:solidFill>
                          <a:latin typeface="Segoe UI"/>
                        </a:rPr>
                        <a:t>0111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1B4B"/>
                          </a:solidFill>
                          <a:latin typeface="Segoe UI"/>
                        </a:rPr>
                        <a:t>0101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1B4B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1B4B"/>
                          </a:solidFill>
                          <a:latin typeface="Segoe UI"/>
                        </a:rPr>
                        <a:t>0101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1B4B"/>
                          </a:solidFill>
                          <a:latin typeface="Segoe UI"/>
                        </a:rPr>
                        <a:t>0110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1B4B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1B4B"/>
                          </a:solidFill>
                          <a:latin typeface="Segoe UI"/>
                        </a:rPr>
                        <a:t>0100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1B4B"/>
                          </a:solidFill>
                          <a:latin typeface="Segoe UI"/>
                        </a:rPr>
                        <a:t>0111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1B4B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1B4B"/>
                          </a:solidFill>
                          <a:latin typeface="Segoe UI"/>
                        </a:rPr>
                        <a:t>1100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1B4B"/>
                          </a:solidFill>
                          <a:latin typeface="Segoe UI"/>
                        </a:rPr>
                        <a:t>1000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1B4B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1B4B"/>
                          </a:solidFill>
                          <a:latin typeface="Segoe UI"/>
                        </a:rPr>
                        <a:t>1101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1B4B"/>
                          </a:solidFill>
                          <a:latin typeface="Segoe UI"/>
                        </a:rPr>
                        <a:t>1001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1B4B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1B4B"/>
                          </a:solidFill>
                          <a:latin typeface="Segoe UI"/>
                        </a:rPr>
                        <a:t>1111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1B4B"/>
                          </a:solidFill>
                          <a:latin typeface="Segoe UI"/>
                        </a:rPr>
                        <a:t>1010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1B4B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1B4B"/>
                          </a:solidFill>
                          <a:latin typeface="Segoe UI"/>
                        </a:rPr>
                        <a:t>1110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1B4B"/>
                          </a:solidFill>
                          <a:latin typeface="Segoe UI"/>
                        </a:rPr>
                        <a:t>1011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1B4B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1B4B"/>
                          </a:solidFill>
                          <a:latin typeface="Segoe UI"/>
                        </a:rPr>
                        <a:t>1010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1B4B"/>
                          </a:solidFill>
                          <a:latin typeface="Segoe UI"/>
                        </a:rPr>
                        <a:t>1100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1B4B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1B4B"/>
                          </a:solidFill>
                          <a:latin typeface="Segoe UI"/>
                        </a:rPr>
                        <a:t>1011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1B4B"/>
                          </a:solidFill>
                          <a:latin typeface="Segoe UI"/>
                        </a:rPr>
                        <a:t>1101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1B4B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1B4B"/>
                          </a:solidFill>
                          <a:latin typeface="Segoe UI"/>
                        </a:rPr>
                        <a:t>1001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1B4B"/>
                          </a:solidFill>
                          <a:latin typeface="Segoe UI"/>
                        </a:rPr>
                        <a:t>1110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</a:tr>
              <a:tr h="242048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1B4B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1B4B"/>
                          </a:solidFill>
                          <a:latin typeface="Segoe UI"/>
                        </a:rPr>
                        <a:t>1000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1B4B"/>
                          </a:solidFill>
                          <a:latin typeface="Segoe UI"/>
                        </a:rPr>
                        <a:t>1111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715000" y="1874519"/>
            <a:ext cx="5943600" cy="2651760"/>
          </a:xfrm>
          <a:prstGeom prst="roundRect">
            <a:avLst>
              <a:gd name="adj" fmla="val 5500"/>
            </a:avLst>
          </a:prstGeom>
          <a:solidFill>
            <a:srgbClr val="F0FDFA"/>
          </a:solidFill>
          <a:ln w="12700">
            <a:solidFill>
              <a:srgbClr val="C9F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137160" tIns="73152" bIns="73152"/>
          <a:lstStyle/>
          <a:p>
            <a:pPr algn="l"/>
            <a:r>
              <a:rPr sz="1300" b="1">
                <a:solidFill>
                  <a:srgbClr val="0D9488"/>
                </a:solidFill>
                <a:latin typeface="Segoe UI"/>
              </a:rPr>
              <a:t>TEST PROCEDURE</a:t>
            </a:r>
          </a:p>
          <a:p>
            <a:pPr algn="l"/>
            <a:r>
              <a:rPr sz="1400" b="0">
                <a:solidFill>
                  <a:srgbClr val="1E1B4B"/>
                </a:solidFill>
                <a:latin typeface="Segoe UI"/>
              </a:rPr>
              <a:t>1.  Apply all 16 Gray-code combinations via input pins (poke tool).</a:t>
            </a:r>
          </a:p>
          <a:p>
            <a:pPr algn="l"/>
            <a:r>
              <a:rPr sz="1400" b="0">
                <a:solidFill>
                  <a:srgbClr val="1E1B4B"/>
                </a:solidFill>
                <a:latin typeface="Segoe UI"/>
              </a:rPr>
              <a:t>2.  Observe outputs B₃–B₀ after XOR propagation delay.</a:t>
            </a:r>
          </a:p>
          <a:p>
            <a:pPr algn="l"/>
            <a:r>
              <a:rPr sz="1400" b="0">
                <a:solidFill>
                  <a:srgbClr val="1E1B4B"/>
                </a:solidFill>
                <a:latin typeface="Segoe UI"/>
              </a:rPr>
              <a:t>3.  Cross-check each output against the truth table.</a:t>
            </a:r>
          </a:p>
          <a:p>
            <a:pPr algn="l"/>
            <a:r>
              <a:rPr sz="1500" b="1">
                <a:solidFill>
                  <a:srgbClr val="0D9488"/>
                </a:solidFill>
                <a:latin typeface="Segoe UI"/>
              </a:rPr>
              <a:t>All 16 cases matched — circuit verified. 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0" y="4709160"/>
            <a:ext cx="5943600" cy="1737360"/>
          </a:xfrm>
          <a:prstGeom prst="roundRect">
            <a:avLst>
              <a:gd name="adj" fmla="val 5500"/>
            </a:avLst>
          </a:prstGeom>
          <a:solidFill>
            <a:srgbClr val="FFF7ED"/>
          </a:solidFill>
          <a:ln w="12700">
            <a:solidFill>
              <a:srgbClr val="FDE6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137160" tIns="73152" bIns="73152"/>
          <a:lstStyle/>
          <a:p>
            <a:pPr algn="l"/>
            <a:r>
              <a:rPr sz="1300" b="1">
                <a:solidFill>
                  <a:srgbClr val="F59E0B"/>
                </a:solidFill>
                <a:latin typeface="Segoe UI"/>
              </a:rPr>
              <a:t>SAMPLE RUN — G₃G₂G₁G₀ = 1011 (Gray)</a:t>
            </a:r>
          </a:p>
          <a:p>
            <a:pPr algn="l"/>
            <a:r>
              <a:rPr sz="1400" b="0">
                <a:solidFill>
                  <a:srgbClr val="1E1B4B"/>
                </a:solidFill>
                <a:latin typeface="Segoe UI"/>
              </a:rPr>
              <a:t>B₃ = 1,  B₂ = 1⊕0 = 1,  B₁ = 1⊕1 = 0,  B₀ = 0⊕1 = 1</a:t>
            </a:r>
          </a:p>
          <a:p>
            <a:pPr algn="l"/>
            <a:r>
              <a:rPr sz="1400" b="1">
                <a:solidFill>
                  <a:srgbClr val="0D9488"/>
                </a:solidFill>
                <a:latin typeface="Segoe UI"/>
              </a:rPr>
              <a:t>Pins read 1101  ✔  (Decimal 13 — matches truth table)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41248"/>
            <a:ext cx="10972800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000" b="1">
                <a:solidFill>
                  <a:srgbClr val="1E1B4B"/>
                </a:solidFill>
                <a:latin typeface="Segoe UI"/>
              </a:rPr>
              <a:t>Results, Applications &amp;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572768"/>
            <a:ext cx="1371600" cy="502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01952" y="1572768"/>
            <a:ext cx="411480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172200"/>
            <a:ext cx="73152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600" b="1">
                <a:solidFill>
                  <a:srgbClr val="DDD6FE"/>
                </a:solidFill>
                <a:latin typeface="Segoe UI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5486400" cy="2148840"/>
          </a:xfrm>
          <a:prstGeom prst="roundRect">
            <a:avLst>
              <a:gd name="adj" fmla="val 5500"/>
            </a:avLst>
          </a:prstGeom>
          <a:solidFill>
            <a:srgbClr val="F5F3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137160" tIns="73152" bIns="73152"/>
          <a:lstStyle/>
          <a:p>
            <a:pPr algn="l"/>
            <a:r>
              <a:rPr sz="1300" b="1">
                <a:solidFill>
                  <a:srgbClr val="7C3AED"/>
                </a:solidFill>
                <a:latin typeface="Segoe UI"/>
              </a:rPr>
              <a:t>RESULTS</a:t>
            </a:r>
          </a:p>
          <a:p>
            <a:pPr algn="l"/>
            <a:r>
              <a:rPr sz="1400" b="0">
                <a:solidFill>
                  <a:srgbClr val="1E1B4B"/>
                </a:solidFill>
                <a:latin typeface="Segoe UI"/>
              </a:rPr>
              <a:t>✔  Designed &amp; simulated in Logisim Evolution.</a:t>
            </a:r>
          </a:p>
          <a:p>
            <a:pPr algn="l"/>
            <a:r>
              <a:rPr sz="1400" b="0">
                <a:solidFill>
                  <a:srgbClr val="1E1B4B"/>
                </a:solidFill>
                <a:latin typeface="Segoe UI"/>
              </a:rPr>
              <a:t>✔  All 16 input combinations verified.</a:t>
            </a:r>
          </a:p>
          <a:p>
            <a:pPr algn="l"/>
            <a:r>
              <a:rPr sz="1400" b="0">
                <a:solidFill>
                  <a:srgbClr val="1E1B4B"/>
                </a:solidFill>
                <a:latin typeface="Segoe UI"/>
              </a:rPr>
              <a:t>✔  Follows Specification → Design → Simulation → Verification.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74519"/>
            <a:ext cx="5440680" cy="2148840"/>
          </a:xfrm>
          <a:prstGeom prst="roundRect">
            <a:avLst>
              <a:gd name="adj" fmla="val 5500"/>
            </a:avLst>
          </a:prstGeom>
          <a:solidFill>
            <a:srgbClr val="FFF7ED"/>
          </a:solidFill>
          <a:ln w="12700">
            <a:solidFill>
              <a:srgbClr val="FDE6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137160" tIns="73152" bIns="73152"/>
          <a:lstStyle/>
          <a:p>
            <a:pPr algn="l"/>
            <a:r>
              <a:rPr sz="1300" b="1">
                <a:solidFill>
                  <a:srgbClr val="F59E0B"/>
                </a:solidFill>
                <a:latin typeface="Segoe UI"/>
              </a:rPr>
              <a:t>APPLICATIONS</a:t>
            </a:r>
          </a:p>
          <a:p>
            <a:pPr algn="l"/>
            <a:r>
              <a:rPr sz="1300" b="0">
                <a:solidFill>
                  <a:srgbClr val="1E1B4B"/>
                </a:solidFill>
                <a:latin typeface="Segoe UI"/>
              </a:rPr>
              <a:t>▸  Rotary / optical encoders — glitch-free position sensing.</a:t>
            </a:r>
          </a:p>
          <a:p>
            <a:pPr algn="l"/>
            <a:r>
              <a:rPr sz="1300" b="0">
                <a:solidFill>
                  <a:srgbClr val="1E1B4B"/>
                </a:solidFill>
                <a:latin typeface="Segoe UI"/>
              </a:rPr>
              <a:t>▸  Analog-to-Digital Converters (ADCs).</a:t>
            </a:r>
          </a:p>
          <a:p>
            <a:pPr algn="l"/>
            <a:r>
              <a:rPr sz="1300" b="0">
                <a:solidFill>
                  <a:srgbClr val="1E1B4B"/>
                </a:solidFill>
                <a:latin typeface="Segoe UI"/>
              </a:rPr>
              <a:t>▸  Digital communication &amp; K-map / low-power FSM design.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251960"/>
            <a:ext cx="5486400" cy="2148840"/>
          </a:xfrm>
          <a:prstGeom prst="roundRect">
            <a:avLst>
              <a:gd name="adj" fmla="val 5500"/>
            </a:avLst>
          </a:prstGeom>
          <a:solidFill>
            <a:srgbClr val="F0FDFA"/>
          </a:solidFill>
          <a:ln w="12700">
            <a:solidFill>
              <a:srgbClr val="C9F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137160" tIns="73152" bIns="73152"/>
          <a:lstStyle/>
          <a:p>
            <a:pPr algn="l"/>
            <a:r>
              <a:rPr sz="1300" b="1">
                <a:solidFill>
                  <a:srgbClr val="0D9488"/>
                </a:solidFill>
                <a:latin typeface="Segoe UI"/>
              </a:rPr>
              <a:t>SUMMARY</a:t>
            </a:r>
          </a:p>
          <a:p>
            <a:pPr algn="l"/>
            <a:r>
              <a:rPr sz="1300" b="0">
                <a:solidFill>
                  <a:srgbClr val="1E1B4B"/>
                </a:solidFill>
                <a:latin typeface="Segoe UI"/>
              </a:rPr>
              <a:t>Gray code: one bit changes per step — safe transitions.</a:t>
            </a:r>
          </a:p>
          <a:p>
            <a:pPr algn="l"/>
            <a:r>
              <a:rPr sz="1300" b="1">
                <a:solidFill>
                  <a:srgbClr val="1E1B4B"/>
                </a:solidFill>
                <a:latin typeface="Segoe UI"/>
              </a:rPr>
              <a:t>Converter = 1 direct line + 3 XOR gates. Minimal hardware!</a:t>
            </a:r>
          </a:p>
          <a:p>
            <a:pPr algn="l"/>
            <a:r>
              <a:rPr sz="1300" b="0">
                <a:solidFill>
                  <a:srgbClr val="1E1B4B"/>
                </a:solidFill>
                <a:latin typeface="Segoe UI"/>
              </a:rPr>
              <a:t>Pure combinational logic — no clock, no memory.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251960"/>
            <a:ext cx="5440680" cy="2148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137160" tIns="73152" bIns="73152"/>
          <a:lstStyle/>
          <a:p>
            <a:pPr algn="l"/>
            <a:r>
              <a:rPr sz="1300" b="1">
                <a:solidFill>
                  <a:srgbClr val="1E1B4B"/>
                </a:solidFill>
                <a:latin typeface="Segoe UI"/>
              </a:rPr>
              <a:t>WHAT WE LEARNT</a:t>
            </a:r>
          </a:p>
          <a:p>
            <a:pPr algn="l"/>
            <a:r>
              <a:rPr sz="1300" b="0">
                <a:solidFill>
                  <a:srgbClr val="1E1B4B"/>
                </a:solidFill>
                <a:latin typeface="Segoe UI"/>
              </a:rPr>
              <a:t>▸  Logic equations → physical gate-level circuit.</a:t>
            </a:r>
          </a:p>
          <a:p>
            <a:pPr algn="l"/>
            <a:r>
              <a:rPr sz="1300" b="0">
                <a:solidFill>
                  <a:srgbClr val="1E1B4B"/>
                </a:solidFill>
                <a:latin typeface="Segoe UI"/>
              </a:rPr>
              <a:t>▸  XOR: the workhorse of code-conversion &amp; parity circuits.</a:t>
            </a:r>
          </a:p>
          <a:p>
            <a:pPr algn="l"/>
            <a:r>
              <a:rPr sz="1300" b="0">
                <a:solidFill>
                  <a:srgbClr val="1E1B4B"/>
                </a:solidFill>
                <a:latin typeface="Segoe UI"/>
              </a:rPr>
              <a:t>▸  Simulation-based verification against a specification.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645920" y="4206240"/>
            <a:ext cx="4754880" cy="4754880"/>
          </a:xfrm>
          <a:prstGeom prst="ellipse">
            <a:avLst/>
          </a:prstGeom>
          <a:noFill/>
          <a:ln w="254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120640"/>
            <a:ext cx="2926080" cy="2926080"/>
          </a:xfrm>
          <a:prstGeom prst="ellipse">
            <a:avLst/>
          </a:prstGeom>
          <a:noFill/>
          <a:ln w="15240">
            <a:solidFill>
              <a:srgbClr val="4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98480" y="822960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354312" y="6656832"/>
            <a:ext cx="2834640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10698480" cy="11887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63240"/>
            <a:ext cx="1069848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900" b="1">
                <a:solidFill>
                  <a:srgbClr val="C4B5FD"/>
                </a:solidFill>
                <a:latin typeface="Segoe UI"/>
              </a:rPr>
              <a:t>Questions &amp; Discussion are welcome!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27448" y="3977639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73152" bIns="73152"/>
          <a:lstStyle/>
          <a:p>
            <a:pPr algn="ctr"/>
            <a:r>
              <a:rPr sz="1400" b="1">
                <a:solidFill>
                  <a:srgbClr val="1E1B4B"/>
                </a:solidFill>
                <a:latin typeface="Segoe UI"/>
              </a:rPr>
              <a:t>PROJECT TEAM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54480" y="4709160"/>
            <a:ext cx="4297680" cy="731520"/>
          </a:xfrm>
          <a:prstGeom prst="roundRect">
            <a:avLst>
              <a:gd name="adj" fmla="val 5500"/>
            </a:avLst>
          </a:prstGeom>
          <a:solidFill>
            <a:srgbClr val="2D2A5E"/>
          </a:solidFill>
          <a:ln w="12700">
            <a:solidFill>
              <a:srgbClr val="4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73152" bIns="73152"/>
          <a:lstStyle/>
          <a:p>
            <a:pPr algn="l"/>
            <a:r>
              <a:rPr sz="1200" b="1">
                <a:solidFill>
                  <a:srgbClr val="F59E0B"/>
                </a:solidFill>
                <a:latin typeface="Segoe UI"/>
              </a:rPr>
              <a:t>2620090062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Sambha Ritika Sripranitha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4709160"/>
            <a:ext cx="4297680" cy="731520"/>
          </a:xfrm>
          <a:prstGeom prst="roundRect">
            <a:avLst>
              <a:gd name="adj" fmla="val 5500"/>
            </a:avLst>
          </a:prstGeom>
          <a:solidFill>
            <a:srgbClr val="2D2A5E"/>
          </a:solidFill>
          <a:ln w="12700">
            <a:solidFill>
              <a:srgbClr val="4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73152" bIns="73152"/>
          <a:lstStyle/>
          <a:p>
            <a:pPr algn="l"/>
            <a:r>
              <a:rPr sz="1200" b="1">
                <a:solidFill>
                  <a:srgbClr val="F59E0B"/>
                </a:solidFill>
                <a:latin typeface="Segoe UI"/>
              </a:rPr>
              <a:t>2620090066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G Laxmi Narashimha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54480" y="5623560"/>
            <a:ext cx="4297680" cy="731520"/>
          </a:xfrm>
          <a:prstGeom prst="roundRect">
            <a:avLst>
              <a:gd name="adj" fmla="val 5500"/>
            </a:avLst>
          </a:prstGeom>
          <a:solidFill>
            <a:srgbClr val="2D2A5E"/>
          </a:solidFill>
          <a:ln w="12700">
            <a:solidFill>
              <a:srgbClr val="4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73152" bIns="73152"/>
          <a:lstStyle/>
          <a:p>
            <a:pPr algn="l"/>
            <a:r>
              <a:rPr sz="1200" b="1">
                <a:solidFill>
                  <a:srgbClr val="F59E0B"/>
                </a:solidFill>
                <a:latin typeface="Segoe UI"/>
              </a:rPr>
              <a:t>2620090081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Palavala Venkata Sudheer Kumar Reddy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5623560"/>
            <a:ext cx="4297680" cy="731520"/>
          </a:xfrm>
          <a:prstGeom prst="roundRect">
            <a:avLst>
              <a:gd name="adj" fmla="val 5500"/>
            </a:avLst>
          </a:prstGeom>
          <a:solidFill>
            <a:srgbClr val="2D2A5E"/>
          </a:solidFill>
          <a:ln w="12700">
            <a:solidFill>
              <a:srgbClr val="4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73152" bIns="73152"/>
          <a:lstStyle/>
          <a:p>
            <a:pPr algn="l"/>
            <a:r>
              <a:rPr sz="1200" b="1">
                <a:solidFill>
                  <a:srgbClr val="F59E0B"/>
                </a:solidFill>
                <a:latin typeface="Segoe UI"/>
              </a:rPr>
              <a:t>2620040047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Kandoori Shanmuk Hari Guptha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